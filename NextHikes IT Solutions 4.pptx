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31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3 349 24575,'0'167'0,"-2"-281"0,5-133 0,-3 244 0,0 0 0,1 0 0,-1 0 0,1 0 0,0 0 0,0 0 0,0 0 0,0 0 0,0 1 0,2-4 0,-3 6 0,1 0 0,-1-1 0,0 1 0,1 0 0,-1-1 0,0 1 0,1 0 0,-1-1 0,1 1 0,-1 0 0,1 0 0,-1 0 0,0-1 0,1 1 0,-1 0 0,1 0 0,-1 0 0,1 0 0,-1 0 0,1 0 0,-1 0 0,1 0 0,-1 0 0,1 0 0,15 12 0,-6 2 0,0 1 0,-2 0 0,1 1 0,8 25 0,-8-19 0,20 35 0,-22-48 0,0 0 0,0 0 0,10 8 0,-12-12 0,0 0 0,0 0 0,0 1 0,-1-1 0,0 1 0,0 0 0,0 0 0,-1 1 0,0-1 0,3 11 0,-1 3 0,-2 0 0,0 1 0,-2-1 0,0 31 0,-3-330 0,0 51 0,2 185 0,0 36 0,0 30 0,2 30 0,12 63 0,2 43 0,-16-11 0,19-231 0,-11-6 0,-2-107 0,-8 341-1365,2-114-5461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40.0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4:03.7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23.4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124 29 24575,'2'60'0,"-1"-34"0,0-1 0,-2 1 0,0-1 0,-7 31 0,7-53 0,0 1 0,0-1 0,0 0 0,0 1 0,-1-1 0,1 0 0,-1 0 0,0 0 0,0 0 0,0 0 0,0-1 0,-3 4 0,4-6 0,0 1 0,1 0 0,-1-1 0,0 0 0,0 1 0,0-1 0,1 1 0,-1-1 0,0 0 0,0 0 0,0 0 0,0 1 0,0-1 0,0 0 0,0 0 0,1 0 0,-1 0 0,0 0 0,-2-1 0,1 0 0,1 0 0,-1 1 0,0-1 0,0 0 0,1 0 0,-1-1 0,1 1 0,-1 0 0,1-1 0,-1 1 0,1 0 0,-2-4 0,-1-1 0,0 0 0,1 0 0,0-1 0,0 1 0,1-1 0,-1 0 0,2 0 0,-3-8 0,-4-63 0,1 8 0,1 38-1365,1 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24.7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 1 24575,'0'812'0,"-3"-794"0,-3-25 0,-4-33 0,-11-87 0,-5-201 0,28 647 0,-1-339 0,1-8 0,-3 27 0,-2 16 0,-2 3-1365,-2-1-5461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45.6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47.3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4:37.7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783E-DAE1-1A8E-090D-B750088DE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7818E-94ED-21C7-6ABD-EF89A1FFA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70A74-0B73-B43C-77D4-CDF85DDE9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99CE0-7BAA-1551-6CE7-B76AA58A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186D8-C0C2-976A-2060-F86C73F28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66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6191-2647-C278-154A-74FDC790D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0C131-2D35-DD6B-D5C1-61092A033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FCA29-3979-1604-C8C2-2A0CBC3C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7E1E2-E0E4-FB3E-5311-C573D118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A0C8F-C652-CB8A-EEFF-FDB2BF8B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5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281B9-8AEF-55BF-5271-F2D7778E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B2B29-EE63-A2C4-73D3-76CA52A00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23EC0-1615-CEFE-F80B-AEFE3A3A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E8298-B743-96EE-729E-C01EACD3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6B15F-06FC-5107-A3D7-AA4287C3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331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FA512-CD69-ADC7-A32C-DF3FB220F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84FC7-6766-E5E2-6BBC-35062CC91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F672B4-4A2B-583C-68C4-BBDC25532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73A4A-D1B7-9209-7C9F-45FD0451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760E5-F582-B29A-E1BA-6626CC6F2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4A775-687C-808F-DA90-94CA7C2B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97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003B-99FB-DFE9-C2C2-AD3D216A3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C9C65-8553-CFC5-9296-6F6E69A32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CB90F-F186-A780-D402-53307FEF4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7C84A5-8E65-60B5-9CA6-EB8BB6D0A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0366FC-46C3-FBC0-A10C-D84B0EE48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A36BA-89CE-FCA4-851D-E57E1A2D8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13578A-B8FD-A58A-9120-920A0DB2E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9BB69-B9C3-2520-9E34-02DCE29B3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556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8603-029D-A042-3D0F-EFE33D42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77B5E0-9217-BF15-6695-5E6C06B7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0327E-CD21-4B53-4C37-CF4A66CE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0061E-A3AD-FF32-0A1F-2DDD5817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677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56D0EA-E9FB-652D-24B9-E9A5EB14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DC9FD7-D59C-E961-503A-B46F74F9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12610-F1E6-0EB8-514D-04E68545A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772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3E01-99D2-F949-B736-608FDBB11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91E5E-7C9E-0932-CE0D-6FCD7A41D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BA2F7-5E2E-9642-D615-3C97B820C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08E22-70A4-E06C-BDC5-39283513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89411-9C3F-CFFA-D2A8-07FAFD56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3F305-1C57-F60C-0F56-B88B2826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151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558A-8B6B-92F1-1F3D-CCDAF0D8A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FF6BA-9D58-742A-051E-0DF6F925EE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034BA-4ABF-A9E9-6018-7CDE38F3A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92B7C-A87A-E492-3390-4F0436C1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66C79-8A33-79A7-2D28-1F3F401C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62007-08AC-7F1F-68D8-E3F9C256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66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FF4A-9B11-4A79-DAF9-A4E7F4BE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F66B8-4A78-BD1F-FF49-7BE30E85F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057FC-59E7-A68E-BEB1-4E5B3FBE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D3984-259B-AE76-D735-FB23A1509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E4B85-888E-E6D2-BD49-A805ACA9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34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F5C4C8-A094-411A-5821-DF0CF4806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DB15A-87E1-0DC6-761C-2A4DB98F1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C71A3-6FA1-8CD0-E5DF-7781C74F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3CE9-8879-0D1F-1063-5DE5453C0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4FF39-4E63-ED2D-C4A1-F14D5478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50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3B6F4C-EE7A-F7AE-7B16-7602E7CA8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CD009-925F-F05B-7039-442C7D6DB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77A7-039A-413B-FC1D-B41AFD9B8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BC72-8024-495A-8B34-6360F960E6F0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66A3F-940A-67B1-2ED2-E2AF5F857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4AA9D-431C-613B-ACBC-A8811D0DA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4EE92-1AA0-4F4B-A53F-470D53E4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63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8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customXml" Target="../ink/ink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F288-5239-0A1E-CAC2-90BD687DC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2419" y="1661568"/>
            <a:ext cx="6987159" cy="1095947"/>
          </a:xfrm>
        </p:spPr>
        <p:txBody>
          <a:bodyPr/>
          <a:lstStyle/>
          <a:p>
            <a:r>
              <a:rPr lang="en-IN" dirty="0"/>
              <a:t>NextHikes IT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6ACCE-B234-4920-299D-B4471D2AE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2761" y="2766304"/>
            <a:ext cx="6414912" cy="531050"/>
          </a:xfrm>
        </p:spPr>
        <p:txBody>
          <a:bodyPr>
            <a:noAutofit/>
          </a:bodyPr>
          <a:lstStyle/>
          <a:p>
            <a:r>
              <a:rPr lang="en-IN" sz="3200" dirty="0"/>
              <a:t>Flipkart Smartphone Market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0A0A9-CF21-32ED-A36A-50EB24D705F3}"/>
              </a:ext>
            </a:extLst>
          </p:cNvPr>
          <p:cNvSpPr txBox="1"/>
          <p:nvPr/>
        </p:nvSpPr>
        <p:spPr>
          <a:xfrm>
            <a:off x="1335024" y="4796322"/>
            <a:ext cx="2941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Presented by:</a:t>
            </a:r>
            <a:r>
              <a:rPr lang="en-IN" sz="2000" dirty="0"/>
              <a:t>  Raj Bajaj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2A929-B1B3-14BA-F345-6E89CFB3C761}"/>
              </a:ext>
            </a:extLst>
          </p:cNvPr>
          <p:cNvSpPr txBox="1"/>
          <p:nvPr/>
        </p:nvSpPr>
        <p:spPr>
          <a:xfrm>
            <a:off x="2662533" y="3240936"/>
            <a:ext cx="7135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Exploring pricing, brand trends &amp; hardware specs across 541 smartphones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F61164A-DF78-396A-661D-9DD6DA8CC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43" y="1490919"/>
            <a:ext cx="85725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C84982F-4988-4CB3-5820-D56FA0D21975}"/>
                  </a:ext>
                </a:extLst>
              </p14:cNvPr>
              <p14:cNvContentPartPr/>
              <p14:nvPr/>
            </p14:nvContentPartPr>
            <p14:xfrm>
              <a:off x="2557053" y="2154500"/>
              <a:ext cx="105480" cy="200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C84982F-4988-4CB3-5820-D56FA0D219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0933" y="2148380"/>
                <a:ext cx="1177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5E75A2-C053-BABB-7092-ACAD1912E461}"/>
                  </a:ext>
                </a:extLst>
              </p14:cNvPr>
              <p14:cNvContentPartPr/>
              <p14:nvPr/>
            </p14:nvContentPartPr>
            <p14:xfrm>
              <a:off x="2557773" y="226826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5E75A2-C053-BABB-7092-ACAD1912E4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51653" y="22621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65AA71D-D4A3-7AC3-74EC-5D9F33EB62E8}"/>
                  </a:ext>
                </a:extLst>
              </p14:cNvPr>
              <p14:cNvContentPartPr/>
              <p14:nvPr/>
            </p14:nvContentPartPr>
            <p14:xfrm>
              <a:off x="2590740" y="226326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65AA71D-D4A3-7AC3-74EC-5D9F33EB62E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27740" y="2200260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7A1CEAA-C2B8-9479-4F65-F20FFC1BF987}"/>
              </a:ext>
            </a:extLst>
          </p:cNvPr>
          <p:cNvGrpSpPr/>
          <p:nvPr/>
        </p:nvGrpSpPr>
        <p:grpSpPr>
          <a:xfrm>
            <a:off x="2530053" y="2198780"/>
            <a:ext cx="76167" cy="299160"/>
            <a:chOff x="2530053" y="2198780"/>
            <a:chExt cx="76167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E925F2-1B91-DBED-A020-830E9FEC82E5}"/>
                    </a:ext>
                  </a:extLst>
                </p14:cNvPr>
                <p14:cNvContentPartPr/>
                <p14:nvPr/>
              </p14:nvContentPartPr>
              <p14:xfrm>
                <a:off x="2559933" y="2212100"/>
                <a:ext cx="46080" cy="106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E925F2-1B91-DBED-A020-830E9FEC82E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53813" y="2205980"/>
                  <a:ext cx="583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B5B479-A603-E284-46BD-5A104B33FA45}"/>
                    </a:ext>
                  </a:extLst>
                </p14:cNvPr>
                <p14:cNvContentPartPr/>
                <p14:nvPr/>
              </p14:nvContentPartPr>
              <p14:xfrm>
                <a:off x="2530053" y="2198780"/>
                <a:ext cx="28080" cy="299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B5B479-A603-E284-46BD-5A104B33FA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23933" y="2192660"/>
                  <a:ext cx="403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1A0D293-4882-AD9E-D0E3-D5C20A33D43F}"/>
                    </a:ext>
                  </a:extLst>
                </p14:cNvPr>
                <p14:cNvContentPartPr/>
                <p14:nvPr/>
              </p14:nvContentPartPr>
              <p14:xfrm>
                <a:off x="2605860" y="229350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1A0D293-4882-AD9E-D0E3-D5C20A33D43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99740" y="22873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5BAAECF-D3FF-4819-22E3-8DBC43F15D6F}"/>
                    </a:ext>
                  </a:extLst>
                </p14:cNvPr>
                <p14:cNvContentPartPr/>
                <p14:nvPr/>
              </p14:nvContentPartPr>
              <p14:xfrm>
                <a:off x="2590740" y="2270820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5BAAECF-D3FF-4819-22E3-8DBC43F15D6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84620" y="22647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283E95-DAD9-70A1-4A58-F3769682CA4A}"/>
                    </a:ext>
                  </a:extLst>
                </p14:cNvPr>
                <p14:cNvContentPartPr/>
                <p14:nvPr/>
              </p14:nvContentPartPr>
              <p14:xfrm>
                <a:off x="2592333" y="238418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283E95-DAD9-70A1-4A58-F3769682CA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29693" y="23215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95916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7F98AE-B757-F859-CF7D-B7ACF5AF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Market Segmentation 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4926A79-0A5A-EC23-B3D7-2B9A43BFA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100845"/>
            <a:ext cx="6172200" cy="4646784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1CE984-04E0-66E0-F525-2E932F712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20381"/>
            <a:ext cx="3932237" cy="312724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Key Findings:</a:t>
            </a:r>
            <a:r>
              <a:rPr lang="en-US" sz="1800" dirty="0"/>
              <a:t>  The </a:t>
            </a:r>
            <a:r>
              <a:rPr lang="en-US" sz="1800" b="1" dirty="0"/>
              <a:t>"Mid-Range" (₹10K-20K)</a:t>
            </a:r>
            <a:r>
              <a:rPr lang="en-US" sz="1800" dirty="0"/>
              <a:t> segment is the most competitive, with the highest number of models 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/>
              <a:t>Budget</a:t>
            </a:r>
            <a:r>
              <a:rPr lang="en-US" sz="2000" dirty="0"/>
              <a:t> and </a:t>
            </a:r>
            <a:r>
              <a:rPr lang="en-US" sz="2000" b="1" dirty="0"/>
              <a:t>Upper Mid-Range</a:t>
            </a:r>
            <a:r>
              <a:rPr lang="en-US" sz="2000" dirty="0"/>
              <a:t> follow closely, showing a heavy focus on the "Value for Money" consumer.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Business Insight:</a:t>
            </a:r>
            <a:r>
              <a:rPr lang="en-US" sz="1800" dirty="0"/>
              <a:t> Manufacturers are prioritizing the ₹10K–₹20K bracket because it represents the highest consumer volume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14267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05DE89-E4DA-56A7-E538-30C78F152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Price Drivers: </a:t>
            </a:r>
            <a:br>
              <a:rPr lang="en-US" sz="4400" dirty="0"/>
            </a:br>
            <a:r>
              <a:rPr lang="en-US" sz="4400" dirty="0"/>
              <a:t>The RAM Factor</a:t>
            </a:r>
            <a:endParaRPr lang="en-IN" sz="4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E3684BB-C8EB-DFF3-CF3B-87E0493F8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912678"/>
            <a:ext cx="6172200" cy="302311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2CB422-2692-8F60-4D4D-B26318C49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Key Findings:</a:t>
            </a:r>
            <a:r>
              <a:rPr lang="en-US" sz="2000" dirty="0"/>
              <a:t> There is a </a:t>
            </a:r>
            <a:r>
              <a:rPr lang="en-US" sz="2000" b="1" dirty="0"/>
              <a:t>Strong Positive Correlation (0.78)</a:t>
            </a:r>
            <a:r>
              <a:rPr lang="en-US" sz="2000" dirty="0"/>
              <a:t> between RAM and Price.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 RAM increases, price follows a predictable upward trend.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Business Insight:</a:t>
            </a:r>
            <a:r>
              <a:rPr lang="en-US" sz="2000" dirty="0"/>
              <a:t> RAM remains the most significant "upsell" feature. Moving a consumer from 4GB to 8GB allows for a significant price premium that consumers are willing to pay for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682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47CF-78F6-1F29-15CA-E2EB3E73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53420" cy="1600200"/>
          </a:xfrm>
        </p:spPr>
        <p:txBody>
          <a:bodyPr>
            <a:noAutofit/>
          </a:bodyPr>
          <a:lstStyle/>
          <a:p>
            <a:r>
              <a:rPr lang="en-IN" sz="4400" b="1" dirty="0"/>
              <a:t>Feature Influence:</a:t>
            </a:r>
            <a:br>
              <a:rPr lang="en-IN" sz="4400" b="1" dirty="0"/>
            </a:br>
            <a:r>
              <a:rPr lang="en-IN" sz="4400" b="1" dirty="0"/>
              <a:t> </a:t>
            </a:r>
            <a:r>
              <a:rPr lang="en-IN" sz="4400" dirty="0"/>
              <a:t>AI Lens Battery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7B807D-48D6-28CC-AB91-4601D6832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2294116"/>
            <a:ext cx="6172200" cy="226024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EAFDEF5-7D45-DB16-E46A-3943DDFF181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6612" y="2153483"/>
            <a:ext cx="441801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Lens Presence: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 a portion of phones feature dedicated "AI Lens" branding, but these models command a higher average price point.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Standard: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60% of the market has standardized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5000mAh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battery size a "requirement" rather than a premium feature.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"AI" branding is currently used as a premium differentiator to move models into higher price segments, even when basic hardware like battery remains the same.</a:t>
            </a:r>
          </a:p>
        </p:txBody>
      </p:sp>
    </p:spTree>
    <p:extLst>
      <p:ext uri="{BB962C8B-B14F-4D97-AF65-F5344CB8AC3E}">
        <p14:creationId xmlns:p14="http://schemas.microsoft.com/office/powerpoint/2010/main" val="427824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C5CC-8A60-ED4D-79CA-EF4EFC85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591748" cy="1600200"/>
          </a:xfrm>
        </p:spPr>
        <p:txBody>
          <a:bodyPr>
            <a:noAutofit/>
          </a:bodyPr>
          <a:lstStyle/>
          <a:p>
            <a:r>
              <a:rPr lang="en-IN" sz="4400" b="1" dirty="0"/>
              <a:t>Brand Performance &amp; Market Share: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273617-9695-7E93-4DB0-57EBD9DF5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714175"/>
            <a:ext cx="6172200" cy="3420124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16C4AF2-7773-D9FC-26EB-10D06FBF6BA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6612" y="2057400"/>
            <a:ext cx="418344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Leaders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the top 3 brands (e.g., Vivo, Samsung, Realme) that dominate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Brands with fewer models often target the "Premium" or "Ultra-Budget" segments rather than the mass market.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"Market dominance is currently achieved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variety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The leading brands have a model for every ₹2,000 price increment, leaving little room for smaller competitors."</a:t>
            </a:r>
          </a:p>
        </p:txBody>
      </p:sp>
    </p:spTree>
    <p:extLst>
      <p:ext uri="{BB962C8B-B14F-4D97-AF65-F5344CB8AC3E}">
        <p14:creationId xmlns:p14="http://schemas.microsoft.com/office/powerpoint/2010/main" val="3405598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BE4E-FEE2-02A4-4A5C-4EDED2E7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>
            <a:noAutofit/>
          </a:bodyPr>
          <a:lstStyle/>
          <a:p>
            <a:r>
              <a:rPr lang="en-IN" sz="4400" b="1" dirty="0"/>
              <a:t>The Battery Trend: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395707-61F1-B319-2C1A-DB3E745D5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2070380"/>
            <a:ext cx="6172200" cy="2707714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C4D4471-A729-F4E1-07B8-228304D35CE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6612" y="2430482"/>
            <a:ext cx="43434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5000mAh Peak: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60% of smartphones across all price points have settled on exactly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5000mAh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Correlation with Price: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Surprisingly, battery size does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significantly increase with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"Battery capacity has become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commodity feature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 large battery is no longer a luxury; it is a baseline entry requirement.</a:t>
            </a:r>
          </a:p>
        </p:txBody>
      </p:sp>
    </p:spTree>
    <p:extLst>
      <p:ext uri="{BB962C8B-B14F-4D97-AF65-F5344CB8AC3E}">
        <p14:creationId xmlns:p14="http://schemas.microsoft.com/office/powerpoint/2010/main" val="3448637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671447-C27B-1AD7-C99C-92F7A9062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/>
              <a:t>Conclusion: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B200FD9-367F-9A9A-6338-F7BC1E33D41A}"/>
              </a:ext>
            </a:extLst>
          </p:cNvPr>
          <p:cNvSpPr/>
          <p:nvPr/>
        </p:nvSpPr>
        <p:spPr>
          <a:xfrm>
            <a:off x="2142931" y="16906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realme leads by volume</a:t>
            </a:r>
            <a:endParaRPr lang="en-US" sz="16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A2D4EA31-2794-0C00-4391-B6B227F93DAF}"/>
              </a:ext>
            </a:extLst>
          </p:cNvPr>
          <p:cNvSpPr/>
          <p:nvPr/>
        </p:nvSpPr>
        <p:spPr>
          <a:xfrm>
            <a:off x="2142931" y="19741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98 listings — followed closely by REDMI (68), Infinix (65), vivo (62), and POCO (60)</a:t>
            </a:r>
            <a:endParaRPr lang="en-US" sz="16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9F7F90EA-6544-D753-B122-044B3587AF45}"/>
              </a:ext>
            </a:extLst>
          </p:cNvPr>
          <p:cNvSpPr/>
          <p:nvPr/>
        </p:nvSpPr>
        <p:spPr>
          <a:xfrm>
            <a:off x="2142931" y="2522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Lower-mid dominates pricing</a:t>
            </a:r>
            <a:endParaRPr lang="en-US" sz="16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47925911-11A8-8A5F-BC43-E75E47B49CED}"/>
              </a:ext>
            </a:extLst>
          </p:cNvPr>
          <p:cNvSpPr/>
          <p:nvPr/>
        </p:nvSpPr>
        <p:spPr>
          <a:xfrm>
            <a:off x="2142931" y="27788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46% of phones are priced ₹7K–₹15K; only 1.5% qualify as premium (₹50K+)</a:t>
            </a:r>
            <a:endParaRPr lang="en-US" sz="16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F371A51D-A6F3-D508-A91F-6A0742FD81B1}"/>
              </a:ext>
            </a:extLst>
          </p:cNvPr>
          <p:cNvSpPr/>
          <p:nvPr/>
        </p:nvSpPr>
        <p:spPr>
          <a:xfrm>
            <a:off x="2142931" y="33274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128 GB </a:t>
            </a:r>
            <a:endParaRPr lang="en-US" sz="16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725699CA-172D-1641-9326-2E7CCE3BC6AA}"/>
              </a:ext>
            </a:extLst>
          </p:cNvPr>
          <p:cNvSpPr/>
          <p:nvPr/>
        </p:nvSpPr>
        <p:spPr>
          <a:xfrm>
            <a:off x="2142931" y="36200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the catalog (259 phones) ships with 128 GB storage; 4 GB RAM is the most common tier</a:t>
            </a:r>
            <a:endParaRPr lang="en-US" sz="160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7695BE5B-4773-8619-6CF1-93F0C4133F38}"/>
              </a:ext>
            </a:extLst>
          </p:cNvPr>
          <p:cNvSpPr/>
          <p:nvPr/>
        </p:nvSpPr>
        <p:spPr>
          <a:xfrm>
            <a:off x="2142931" y="413213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5000 mAh is the standard</a:t>
            </a:r>
            <a:endParaRPr lang="en-US" sz="1600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E1EEE35C-3201-A196-D022-9E568FC60EF1}"/>
              </a:ext>
            </a:extLst>
          </p:cNvPr>
          <p:cNvSpPr/>
          <p:nvPr/>
        </p:nvSpPr>
        <p:spPr>
          <a:xfrm>
            <a:off x="2142931" y="45344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72% of phones carry a 5000 mAh battery — the market has effectively standardized on this capacity</a:t>
            </a:r>
            <a:endParaRPr lang="en-US" sz="16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AC96D7F7-40D9-223A-25C6-5A3F3726FE2D}"/>
              </a:ext>
            </a:extLst>
          </p:cNvPr>
          <p:cNvSpPr/>
          <p:nvPr/>
        </p:nvSpPr>
        <p:spPr>
          <a:xfrm>
            <a:off x="2142931" y="49368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RAM correlates with price</a:t>
            </a:r>
            <a:endParaRPr lang="en-US" sz="16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FD003692-F018-27C9-40A4-27D51C72D605}"/>
              </a:ext>
            </a:extLst>
          </p:cNvPr>
          <p:cNvSpPr/>
          <p:nvPr/>
        </p:nvSpPr>
        <p:spPr>
          <a:xfrm>
            <a:off x="2142931" y="53391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Avg price jumps from ₹7,865 (2 GB) to ₹24,187 (8 GB) — but brand &amp; processor also drive cost significantly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32771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773466B-033B-058B-FB76-A6BC9C06524F}"/>
              </a:ext>
            </a:extLst>
          </p:cNvPr>
          <p:cNvSpPr txBox="1"/>
          <p:nvPr/>
        </p:nvSpPr>
        <p:spPr>
          <a:xfrm>
            <a:off x="4126896" y="2875002"/>
            <a:ext cx="393820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94375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550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NextHikes IT Solutions</vt:lpstr>
      <vt:lpstr>Market Segmentation :</vt:lpstr>
      <vt:lpstr>Price Drivers:  The RAM Factor</vt:lpstr>
      <vt:lpstr>Feature Influence:  AI Lens Battery</vt:lpstr>
      <vt:lpstr>Brand Performance &amp; Market Share:</vt:lpstr>
      <vt:lpstr>The Battery Trend: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bajaj</dc:creator>
  <cp:lastModifiedBy>raj bajaj</cp:lastModifiedBy>
  <cp:revision>1</cp:revision>
  <dcterms:created xsi:type="dcterms:W3CDTF">2026-04-25T12:44:39Z</dcterms:created>
  <dcterms:modified xsi:type="dcterms:W3CDTF">2026-04-25T13:31:03Z</dcterms:modified>
</cp:coreProperties>
</file>